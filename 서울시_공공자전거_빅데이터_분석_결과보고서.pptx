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731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서울특별시 공공자전거(따릉이)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빅데이터 분석 및 인프라 최적화 결과 보고서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2026년 봄철(3~5월) 1,057만 건 전수 분석 기반 공간 인프라·수급 불균형 진단 및 정책 제언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99669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8920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1F5F9"/>
                </a:solidFill>
              </a:defRPr>
            </a:pPr>
            <a:r>
              <a:t>• 보고서 대상: 서울시 공공자전거 이용정보 (10,571,713건) 및 2,789개 대여소 인프라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작성 부서: 스마트도시 데이터허브 / 교통빅데이터 기획실  |  보고일자: 2026년 10월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서울특별시 공공자전거 빅데이터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보고서 구성 및 핵심 요약 (Executive Summary)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SEOUL BIKE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26060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01. 이용 폭발적 성장세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3월 284만 건에서 5월 391만 건으로 37.4% 급증. 기온 상승 및 야외활동 확대로 봄철 공공교통 수요 폭증.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2801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280160"/>
            <a:ext cx="26060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46304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02. 공간·수급 불균형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강서·송파·영등포 3개 구가 서울 전체의 31% 점유. 주요 환승역 대여소는 거치대당 회전율 최고 2,700회 초과.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2801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280160"/>
            <a:ext cx="26060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46304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03. 2030 라스트마일 중심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20·30 청년층이 53.8% 점유. 정기권 비중 78.0%로 지하철역-직장/주거지를 연결하는 통근형 라스트마일 이동 지배적.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2801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280160"/>
            <a:ext cx="26060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146304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04. 압도적 ESG 기여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온실가스 6,106톤 CO₂ 감축(소나무 92.5만 그루 상당), 시민 1km 주행당 약 25.4kcal 유산소 운동 효과 증명.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072591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39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📋 본 보고서의 주요 세부 아젠다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• 제1장. 핵심 성과 지표 (Overall KPI) : 총 이용건수, 주행거리, 온실가스 절감, 건강 기여도 종합 대시보드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• 제2장. 월별 및 공간 지리 분석 (GIS) : 월별 증감 추세, 자치구별 이용량 순위 Top 10 및 평지·수변 지형 상관성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• 제3장. 인프라 회전율 및 수급 불균형 진단 : 거치대 1대당 회전율 분석, 공급부족(과밀) vs 유휴 대여소 분석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• 제4장. 이용자 행태 및 대여권종 비교 : 2030 세대 집중도, 남녀 이용 차이, 정기권 vs 일일권 1회당 거리·시간 패턴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• 제5장. ESG 환경 효과 및 상관성 모델링 : 탄소 절감 및 연료 대체 효과, 이동거리 대비 칼로리 소모 OLS 회귀식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• 제6장. 데이터 기반 3대 최적화 정책 제언 : AI 동적 재배치, 스마트 거치대 확충, 자전거 안전망 로드맵 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서울특별시 공공자전거 빅데이터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2026년 상반기 종합 핵심 성과 지표 (Overall KPI Dashboard)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SEOUL BIKE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6654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066543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36192"/>
            <a:ext cx="18470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총 이용건수</a:t>
            </a:r>
          </a:p>
          <a:p>
            <a:pPr>
              <a:spcBef>
                <a:spcPts val="600"/>
              </a:spcBef>
              <a:defRPr sz="2000" b="1">
                <a:solidFill>
                  <a:srgbClr val="2563EB"/>
                </a:solidFill>
              </a:defRPr>
            </a:pPr>
            <a:r>
              <a:t>10,571,713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단위: 건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봄철 3개월 누적 이용량 (1,057만 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371600"/>
            <a:ext cx="206654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1" y="1371600"/>
            <a:ext cx="2066543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19" y="1536192"/>
            <a:ext cx="18470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총 이동거리</a:t>
            </a:r>
          </a:p>
          <a:p>
            <a:pPr>
              <a:spcBef>
                <a:spcPts val="600"/>
              </a:spcBef>
              <a:defRPr sz="2000" b="1">
                <a:solidFill>
                  <a:srgbClr val="10B981"/>
                </a:solidFill>
              </a:defRPr>
            </a:pPr>
            <a:r>
              <a:t>26,445,944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단위: km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지구 약 660바퀴 완주 거리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371600"/>
            <a:ext cx="206654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371600"/>
            <a:ext cx="2066543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1536192"/>
            <a:ext cx="18470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총 이용시간</a:t>
            </a:r>
          </a:p>
          <a:p>
            <a:pPr>
              <a:spcBef>
                <a:spcPts val="600"/>
              </a:spcBef>
              <a:defRPr sz="2000" b="1">
                <a:solidFill>
                  <a:srgbClr val="0D9488"/>
                </a:solidFill>
              </a:defRPr>
            </a:pPr>
            <a:r>
              <a:t>3,880,551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단위: 시간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건당 평균 22.0분 주행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371600"/>
            <a:ext cx="206654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0336" y="1371600"/>
            <a:ext cx="2066543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536192"/>
            <a:ext cx="18470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탄소 절감량</a:t>
            </a:r>
          </a:p>
          <a:p>
            <a:pPr>
              <a:spcBef>
                <a:spcPts val="600"/>
              </a:spcBef>
              <a:defRPr sz="2000" b="1">
                <a:solidFill>
                  <a:srgbClr val="D97706"/>
                </a:solidFill>
              </a:defRPr>
            </a:pPr>
            <a:r>
              <a:t>6,106.0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단위: 톤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소나무 92.5만 그루 식재 효과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371600"/>
            <a:ext cx="206654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36608" y="1371600"/>
            <a:ext cx="2066543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46336" y="1536192"/>
            <a:ext cx="18470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총 거치대수</a:t>
            </a:r>
          </a:p>
          <a:p>
            <a:pPr>
              <a:spcBef>
                <a:spcPts val="600"/>
              </a:spcBef>
              <a:defRPr sz="2000" b="1">
                <a:solidFill>
                  <a:srgbClr val="0F172A"/>
                </a:solidFill>
              </a:defRPr>
            </a:pPr>
            <a:r>
              <a:t>33,647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단위: 대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총 2,789개 활성 대여소 운영 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39"/>
            <a:ext cx="1072591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8620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💡 데이터 기반 종합 성과 및 총괄 시사점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시민 일상 교통수단으로의 완전 정착: 분석 기간 동안 서울시민 1인당 약 1.1회 이상 따릉이를 이용한 셈이며, 누적 주행거리는 2,644만 km에 달해 서울시 친환경 마이크로 모빌리티의 핵심 축임을 입증함.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기온 상승에 따른 수요 변동성 극대화: 3월 284만 건에서 기온이 온화해진 4월(382만 건)과 5월(391만 건)에 각각 +34.5%, +37.4% 급증하여 날씨와 계절에 따른 인프라 수급 탄력성 확보가 필수적임.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탄소중립 2050 달성을 위한 핵심 레버리지: 내연기관 승용차 대체 주행거리 2,644만 km를 달성하여 약 263만 리터의 휘발유를 절감하였고, 6,106톤의 온실가스 배출을 억제하여 강력한 ESG 친환경 정량 효과 창출.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인프라 수급 쏠림에 따른 한계 노출: 이용량의 30% 이상이 3개 자치구에 집중되고 특정 환승역 대여소에 극심한 병목이 발생함에 따라 단순 총량 증설이 아닌 '공간적 재배치'가 최대 현안으로 대두됨.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서울특별시 공공자전거 빅데이터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월별 이용 추이 분석: 봄철 야외활동 재개 및 수요 폭증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SEOUL BIKE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212080" cy="30659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280160"/>
            <a:ext cx="50109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📈 월별 이용 패턴 및 계절성 인사이트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3월 → 4월 폭발적 증가 (+34.5%)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3월 284만 건에서 4월 382만 건으로 단 한 달 만에 약 98만 건 급증. 동절기 한파 종료 및 개학·개강, 봄꽃 개화 시기와 맞물려 출퇴근 및 여가 수요 동시 폭발.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5월 연중 최고치 기록 (390.5만 건)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5월은 일평균 이용건수가 12.6만 건에 달하며 상반기 정점 기록. 양호한 기상 조건과 가정의 달 야외 레저 활동이 결합되며 따릉이 이용률 극대화.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계절별 탄력적 자전거 공급 필요성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동절기 대비 봄/초여름 시즌의 자전거 수요 변동폭이 40% 이상 발생하므로, 동절기 집중 정비 후 3월 초순 즉각 투입하는 '시즌 맞춤형 가동률 정책' 필수.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운영 현장 병목 리스크 사전 대응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성수기 진입 시 반납 불가(만차) 및 대여 불가(빈 거치대) 민원이 동반 급증하므로, 4~5월 집중 현장 배치 인력 및 순환 배송 트럭 추가 편성 필요.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서울특별시 공공자전거 빅데이터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공간 지리 분포 및 자치구별 이용 현황: 평지·수변 지형 편중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SEOUL BIKE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gu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212080" cy="30659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280160"/>
            <a:ext cx="50109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🏢 자치구별 공간 이용 편차 분석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• 강서구 압도적 1위 (124.1만 건)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마곡지구 첨단 R&amp;D 산업단지와 발산·화곡역 일대 평지 지형이 발달하여, 지하철역-직장 간 통근용 라스트마일 이동 수요가 서울시 내 최대치 형성.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• 송파구(102.3만) · 영등포구(99.1만) 최상위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송파구(잠실·문정 복합단지 및 올림픽공원)와 영등포구(여의도 금융가 및 한강수변공원)가 각각 2, 3위 차지. 상위 3개 구 이용량이 서울 전체의 30.8% 점유.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• 지형(경사도) 및 인프라의 절대적 상관관계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평지 비중이 높고 한강·안양천·탄천 등 하천 자전거도로 접근성이 뛰어난 자치구의 이용량이 산지/구릉지가 많은 자치구(강북구, 은평구 등) 대비 최대 4배 이상 높음.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• 구별 정책 방향 차별화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• 상위 3개 구: 거치대 부족 해소 및 출퇴근 회전율 관리 집중</a:t>
            </a:r>
            <a:br/>
            <a:r>
              <a:t>• 구릉지/도심 구: 전기따릉이(e-bike) 우선 도입 및 도심 전용차로 연결망 확보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서울특별시 공공자전거 빅데이터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인프라 수급 불균형 진단: 거치대 회전율 양극화 및 과밀 대여소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SEOUL BIKE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turnover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212080" cy="30659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280160"/>
            <a:ext cx="50109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🚨 수급 불균형 및 회전율 이상 징후</a:t>
            </a:r>
          </a:p>
          <a:p>
            <a:pPr>
              <a:spcBef>
                <a:spcPts val="800"/>
              </a:spcBef>
              <a:defRPr sz="1200" b="1">
                <a:solidFill>
                  <a:srgbClr val="DC2626"/>
                </a:solidFill>
              </a:defRPr>
            </a:pPr>
            <a:r>
              <a:t>• 발산역 6번 출구 뒤: 회전율 2,769회/대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거치대가 단 6대에 불과한 반면 3개월간 이용건수는 16,616건에 달해, 거치대 1대당 하루 평균 30.8회 대여·반납 발생. 자전거 고갈 및 만차 민원 집중 발생.</a:t>
            </a:r>
          </a:p>
          <a:p>
            <a:pPr>
              <a:spcBef>
                <a:spcPts val="800"/>
              </a:spcBef>
              <a:defRPr sz="1200" b="1">
                <a:solidFill>
                  <a:srgbClr val="DC2626"/>
                </a:solidFill>
              </a:defRPr>
            </a:pPr>
            <a:r>
              <a:t>• 송파구청(2,131회) · 몽촌토성역(1,879회)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주요 지하철 환승 출구의 거치대 규모(5~10대)가 출퇴근 시간대 쏟아지는 시민 수요를 수용하기에 턱없이 부족하여 거치대 회전 한계선 초과.</a:t>
            </a:r>
          </a:p>
          <a:p>
            <a:pPr>
              <a:spcBef>
                <a:spcPts val="800"/>
              </a:spcBef>
              <a:defRPr sz="1200" b="1">
                <a:solidFill>
                  <a:srgbClr val="DC2626"/>
                </a:solidFill>
              </a:defRPr>
            </a:pPr>
            <a:r>
              <a:t>• 출근(조간)과 퇴근(야간)의 조석류(Tidal Flow)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아침에는 주거지 대여소 자전거가 고갈되고 지하철역 대여소가 포화되며, 저녁에는 반대 현상이 반복되어 특정 시간대 서비스 불능 빈번.</a:t>
            </a:r>
          </a:p>
          <a:p>
            <a:pPr>
              <a:spcBef>
                <a:spcPts val="800"/>
              </a:spcBef>
              <a:defRPr sz="1200" b="1">
                <a:solidFill>
                  <a:srgbClr val="DC2626"/>
                </a:solidFill>
              </a:defRPr>
            </a:pPr>
            <a:r>
              <a:t>• 운영 해법: 거치대 스케일업 및 재배치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• 병목 Top 20 대여소: 거치대 용량을 즉시 3~5배 이상 확장</a:t>
            </a:r>
            <a:br/>
            <a:r>
              <a:t>• 회전율 10회 미만 저효율 대여소의 거치대 슬롯을 환승 거점으로 전략적 이전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서울특별시 공공자전거 빅데이터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이용자 인구통계학적 특성: 2030 청년 세대 주도 및 성별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SEOUL BIKE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212080" cy="30659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280160"/>
            <a:ext cx="50109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👥 이용자 세그먼트 핵심 발견점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• 2030 청년 세대 점유율 53.8%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30대 304.3만 건(28.8%), 20대 264.5만 건(25.0%)으로 20~30대가 서울시 따릉이 생태계의 절대 다수를 구성. 모바일 친화성과 라스트마일 이동 선호가 결합된 결과.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• 40대(18.6%) · 50대(12.8%)의 꾸준한 일상 이용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4050 중장년층도 합산 31.4%로 중요한 축을 형성하며, 주거지 인근 마트 장보기 및 생활 근린 이동 수단으로 확고히 정착됨.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• 연령별 성별 이용 구성의 구조적 차이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• 20대: 남성 140.6만 건 vs 여성 123.9만 건으로 남녀 성비가 거의 균등</a:t>
            </a:r>
            <a:br/>
            <a:r>
              <a:t>• 40~50대: 남성 이용 비중이 65% 이상으로 급격히 증가하는 경향 확인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t>• 시사점: 연령·성별 맞춤형 이용 확대 정책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• 10대/고령층(60대 이상): 안전 교육 연계 및 간편 인증 확대</a:t>
            </a:r>
            <a:br/>
            <a:r>
              <a:t>• 여성 안심 귀갓길 및 심야 조명 개선을 통한 야간 이용 안전성 강화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서울특별시 공공자전거 빅데이터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대여권종별 이동 패턴: 정기권(출퇴근 라스트마일) vs 일일권(레저 여가)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SEOUL BIKE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ti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212080" cy="30659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280160"/>
            <a:ext cx="50109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🚴 권종별 주행 행태 및 이용 목적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• 정기권: 78.0% 점유, 출퇴근 라스트마일 특화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1회당 평균 이동거리 2.29km, 이용시간 21.8분. 집과 지하철역, 버스정류장과 사무실을 잇는 빠르고 반복적인 일상 통근 목적이 절대적.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• 일일권: 21.7% 점유, 중장거리 레저형 이동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1회당 평균 이동거리 3.39km, 이용시간 37.9분. 정기권 대비 주행거리가 48%, 체류시간이 74% 더 길며 한강공원·수변 관광 목적 다수.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• 가족권: 0.3% 점유, 초장거리 여가 목적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1회당 평균 이동거리 5.16km, 이용시간 54.3분으로 주말 휴일 가족 단위 라이딩 및 여가형 특성이 가장 극명하게 나타남.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• 운영 전략적 분리 대응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• 주중 평일: 정기권 이용자 중심의 출퇴근 시간대 순환 배차 총력</a:t>
            </a:r>
            <a:br/>
            <a:r>
              <a:t>• 주말 공휴일: 뚝섬, 여의도, 반포 등 한강공원 인접 대여소 집중 관리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서울특별시 공공자전거 빅데이터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ESG 환경 및 건강 기여도: 온실가스 감축 및 시민 건강 증진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SEOUL BIKE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e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212080" cy="30659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280160"/>
            <a:ext cx="50109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🌱 친환경 및 건강 지표 정량 분석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총 6,106.0톤 온실가스(CO₂) 직접 감축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3개월간 시민들의 공공자전거 이용으로 30년생 소나무 925,152그루가 1년간 흡수하는 막대한 탄소 배출 저감 효과 달성.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화석연료 약 2,631,900리터(L) 절감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내연기관 승용차 대체 주행 2,644만 km에 상응하며, 유류비 절감 및 대기오염물질(PM2.5, 질소산화물) 배출 억제에 지대한 공헌.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자치구별 기여도 순위: 강서구 1위 (718.5톤)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강서구(718.5톤), 송파구(591.9톤), 영등포구(572.6톤) 순으로 온실가스 감축 기여도 최상위권 기록.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건강 상관성: 1km 주행당 약 25.4 kcal 소모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이동거리(M)와 운동량(kcal) 간 피어슨 상관계수 r=0.978로 초고도의 양의 상관관계 확인. 총 6,560억 kcal 유산소 운동 효과 창출.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서울특별시 공공자전거 빅데이터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심층 진단: 따릉이 운영 현장의 4대 핵심 문제점 및 이슈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SEOUL BIKE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6694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9728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이슈 1. 환승역 거치대 물리적 용량 한계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발산역, 송파구청, 건대입구 등 거치대 5~10대 규모의 소형 대여소에 출퇴근 시 수천 명이 집중되어 반납 불가 및 거치대 외 무단 방치 급증.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71600"/>
            <a:ext cx="526694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344" y="1371600"/>
            <a:ext cx="109728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544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이슈 2. 유휴 거치대와 과밀 거치대의 양극화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서울 시내 대여소 중 하위 20%는 거치대 1대당 회전율이 10회 미만에 불과하여 자전거가 장기 방치되고 인프라 감가상각 낭비 초래.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526694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86200"/>
            <a:ext cx="109728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이슈 3. 실시간 재배치 물류의 시차(Lag)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출퇴근 피크 타임에 재배치 트럭이 도로 정체로 제때 접근하지 못하여 자전거 고갈-만차 현상이 최소 30분~1시간 이상 지속되는 운영 병목 발생.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886200"/>
            <a:ext cx="526694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886200"/>
            <a:ext cx="109728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40690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이슈 4. 지형적 격차에 따른 서비스 소외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종로, 성북, 은평, 강북 등 구릉지·고지대 자치구는 오르막길 경사로 인해 일반 따릉이 기피 현상이 심화되며 자전거 이용 사각지대 존재.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서울특별시 공공자전거 빅데이터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데이터 기반 인프라 최적화 3대 정책 제언 (Strategic Recommendations)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SEOUL BIKE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전략 1. AI 예측 기반 동적 재배치 (Dynamic Rebalancing)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• 머신러닝 수요예측 모델 연동: 기상청 단기예보, 지하철 승하차 데이터, 요일별 패턴을 결합하여 대여소별 자전거 고갈 시점을 30분 전 사전 예측.</a:t>
            </a:r>
            <a:br/>
            <a:r>
              <a:t>• 스마트 마이크로 배차: 대형 트럭 중심 배차에서 전기 카고바이크 및 거점 버퍼링을 도입하여 출퇴근 정체 시간대에도 신속한 핀셋 재배치 실행.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34747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17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전략 2. 거치대 거점 스케일업 및 유휴 인프라 재할당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402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• 병목 대여소 용량 3~5배 확충: 발산역, 몽촌토성역, 송파구청 등 회전율 1,500회 초과 대여소의 거치대 슬롯을 최대 30~50대 규모로 전면 확장.</a:t>
            </a:r>
            <a:br/>
            <a:r>
              <a:t>• 저효율 대여소 이전: 회전율 하위 10% 유휴 대여소 거치대를 인근 환승 접점으로 통폐합 이전하여 공급 효율 극대화.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371600"/>
            <a:ext cx="3474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1417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전략 3. 지형 맞춤형 기종 다변화 &amp; 안전망 고도화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2402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• 구릉지 전용 전기따릉이(e-Bike) 배치: 성북, 강북, 종로, 은평 등 경사도 5도 이상 지역에 페달보조(PAS) 전기따릉이를 전략적 우선 공급.</a:t>
            </a:r>
            <a:br/>
            <a:r>
              <a:t>• 자전거 전용도로 안전 인프라 확충: 마곡, 여의도, 잠실 등 이용 폭증 구간의 차도 분리형 전용도로 신설 및 야간 LED 조명·노면 표식 강화.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서울특별시 공공자전거 빅데이터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향후 단계별 실행 로드맵 및 종합 기대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SEOUL BIKE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단기 단계 (1~3개월) : 즉각적 수급 정상화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회전율 최상위 20개 환승역 대여소 거치대 긴급 증설</a:t>
            </a:r>
            <a:br/>
            <a:r>
              <a:t>• 조간/야간 출퇴근 피크타임 현장 상주 관리 인력 투입</a:t>
            </a:r>
            <a:br/>
            <a:r>
              <a:t>• 성수기 만차 대여소 임시 가상 반납 구역(Geofence) 운영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71600"/>
            <a:ext cx="347472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536192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D9488"/>
                </a:solidFill>
              </a:defRPr>
            </a:pPr>
            <a:r>
              <a:t>중기 단계 (4~6개월) : 인프라 재할당 및 효율화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회전율 하위 100개 유휴 대여소 거치대 이전 재배치</a:t>
            </a:r>
            <a:br/>
            <a:r>
              <a:t>• 자치구별 따릉이-대중교통 환승 마일리지 연동 시범사업</a:t>
            </a:r>
            <a:br/>
            <a:r>
              <a:t>• 주요 지천-지하철역 간 단절된 자전거 전용로 10개소 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371600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37160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4" y="1536192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장기 단계 (7~12개월) : 지능형 스마트 모빌리티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AI 기반 실시간 수요예측 및 자동 배차 관제 시스템 전면 가동</a:t>
            </a:r>
            <a:br/>
            <a:r>
              <a:t>• 구릉지 중심 전기따릉이 2,000대 신규 도입</a:t>
            </a:r>
            <a:br/>
            <a:r>
              <a:t>• 탄소 배출권 거래제와 연계한 시민 ESG 리워드 플랫폼 런칭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10725912" cy="2286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🎯 정책 추진 시 정량적 기대 효과 및 결론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</a:defRPr>
            </a:pPr>
            <a:r>
              <a:t>• 자전거 이용 대기 시간 및 반납 실패율 65% 이상 감소 : 병목 대여소 용량 증설과 스마트 동적 재배치를 통해 출퇴근 시간대 시민 체감 서비스 만족도 대폭 개선.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</a:defRPr>
            </a:pPr>
            <a:r>
              <a:t>• 인프라 회전 효율 2.5배 제고 및 예산 낭비 차단 : 신규 거치대 무분별 신설 대신 유휴 거치대 이전을 통해 약 45억 원 이상의 인프라 구축 예산 절감 달성.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</a:defRPr>
            </a:pPr>
            <a:r>
              <a:t>• 연간 온실가스 2.5만 톤 추가 감축 기반 확보 : 마이크로 모빌리티 수송 분담률을 현행 수준에서 1.8배 끌어올려 서울시 탄소중립 2050 목표 달성에 결정적 기여.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